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83" r:id="rId2"/>
    <p:sldId id="299" r:id="rId3"/>
    <p:sldId id="295" r:id="rId4"/>
    <p:sldId id="285" r:id="rId5"/>
    <p:sldId id="296" r:id="rId6"/>
    <p:sldId id="278" r:id="rId7"/>
    <p:sldId id="281" r:id="rId8"/>
    <p:sldId id="279" r:id="rId9"/>
    <p:sldId id="291" r:id="rId10"/>
    <p:sldId id="262" r:id="rId11"/>
    <p:sldId id="264" r:id="rId12"/>
    <p:sldId id="277" r:id="rId13"/>
    <p:sldId id="297" r:id="rId14"/>
    <p:sldId id="292" r:id="rId15"/>
    <p:sldId id="298" r:id="rId16"/>
    <p:sldId id="286" r:id="rId17"/>
    <p:sldId id="287" r:id="rId18"/>
    <p:sldId id="280" r:id="rId19"/>
    <p:sldId id="288" r:id="rId20"/>
    <p:sldId id="289" r:id="rId21"/>
    <p:sldId id="300"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95611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291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8064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0641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0654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1539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097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655950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err="1" smtClean="0"/>
                        <a:t>K.Siva</a:t>
                      </a:r>
                      <a:r>
                        <a:rPr lang="en-US" baseline="0" dirty="0" smtClean="0"/>
                        <a:t> </a:t>
                      </a:r>
                      <a:r>
                        <a:rPr lang="en-US" baseline="0" dirty="0" err="1" smtClean="0"/>
                        <a:t>Ranganath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rangacse12@gmail.com</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9959657428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[Healthcare </a:t>
            </a:r>
            <a:r>
              <a:rPr lang="en-US" sz="2400" b="1" dirty="0">
                <a:highlight>
                  <a:srgbClr val="FFFF00"/>
                </a:highlight>
              </a:rPr>
              <a:t>/ … ]</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IN" sz="2400" dirty="0" err="1"/>
              <a:t>HealthGenie</a:t>
            </a:r>
            <a:r>
              <a:rPr lang="en-IN" sz="2400" dirty="0"/>
              <a:t> AI</a:t>
            </a:r>
            <a:r>
              <a:rPr lang="en-US" sz="2400" b="1" dirty="0" smtClean="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xmlns=""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
        <p:nvSpPr>
          <p:cNvPr id="10" name="TextBox 9">
            <a:extLst>
              <a:ext uri="{FF2B5EF4-FFF2-40B4-BE49-F238E27FC236}">
                <a16:creationId xmlns:a16="http://schemas.microsoft.com/office/drawing/2014/main" xmlns="" id="{B0B023FA-CFEB-ACE9-8425-7E72E307CDC5}"/>
              </a:ext>
            </a:extLst>
          </p:cNvPr>
          <p:cNvSpPr txBox="1"/>
          <p:nvPr/>
        </p:nvSpPr>
        <p:spPr>
          <a:xfrm>
            <a:off x="1211003" y="5226784"/>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3573" y="3677205"/>
            <a:ext cx="1312718" cy="903867"/>
          </a:xfrm>
          <a:prstGeom prst="rect">
            <a:avLst/>
          </a:prstGeom>
        </p:spPr>
      </p:pic>
    </p:spTree>
    <p:extLst>
      <p:ext uri="{BB962C8B-B14F-4D97-AF65-F5344CB8AC3E}">
        <p14:creationId xmlns:p14="http://schemas.microsoft.com/office/powerpoint/2010/main" val="2494922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a:t>
            </a:r>
            <a:r>
              <a:rPr lang="en-IN" b="1" dirty="0"/>
              <a:t>Personalized Healthcare Recommendation Engine</a:t>
            </a:r>
            <a:r>
              <a:rPr lang="en-US" dirty="0"/>
              <a:t> </a:t>
            </a:r>
            <a:endParaRPr lang="en-US" b="1" dirty="0"/>
          </a:p>
          <a:p>
            <a:pPr fontAlgn="base"/>
            <a:r>
              <a:rPr lang="en-US" b="1" dirty="0"/>
              <a:t>The Challenge</a:t>
            </a:r>
            <a:r>
              <a:rPr lang="en-US" dirty="0"/>
              <a:t> </a:t>
            </a:r>
          </a:p>
          <a:p>
            <a:pPr fontAlgn="base"/>
            <a:r>
              <a:rPr lang="en-US" dirty="0"/>
              <a:t>Healthcare recommendations are often generic and fail to account for an individual's unique health profile, lifestyle, medical history, and wellness goals. People struggle to make informed decisions about diet, exercise, preventive care, and chronic disease management due to fragmented health information and a lack of personalized guidance. As a result, many individuals are unable to maintain healthy habits, detect risks early, or effectively manage existing health conditions</a:t>
            </a:r>
          </a:p>
          <a:p>
            <a:pPr fontAlgn="base"/>
            <a:r>
              <a:rPr lang="en-US" b="1" dirty="0"/>
              <a:t>The Objective</a:t>
            </a:r>
            <a:r>
              <a:rPr lang="en-US" dirty="0"/>
              <a:t> </a:t>
            </a:r>
          </a:p>
          <a:p>
            <a:pPr fontAlgn="base"/>
            <a:r>
              <a:rPr lang="en-US" dirty="0"/>
              <a:t>Build an </a:t>
            </a:r>
            <a:r>
              <a:rPr lang="en-US" b="1" dirty="0"/>
              <a:t>AI-powered Personalized Healthcare Recommendation Engine</a:t>
            </a:r>
            <a:r>
              <a:rPr lang="en-US" dirty="0"/>
              <a:t> that provides customized health insights, wellness plans, and preventive care recommendations for individuals, caregivers, and healthcare professionals. The solution should</a:t>
            </a:r>
            <a:r>
              <a:rPr lang="en-US" dirty="0" smtClean="0"/>
              <a:t>:</a:t>
            </a:r>
          </a:p>
          <a:p>
            <a:r>
              <a:rPr lang="en-US" b="1" dirty="0"/>
              <a:t>Personalized Health Recommendations</a:t>
            </a:r>
          </a:p>
          <a:p>
            <a:r>
              <a:rPr lang="en-US" dirty="0"/>
              <a:t>Generate tailored recommendations based on age, gender, lifestyle, medical history, family history, fitness level, and health goals. </a:t>
            </a:r>
          </a:p>
          <a:p>
            <a:r>
              <a:rPr lang="en-US" dirty="0"/>
              <a:t>Suggest personalized diet, exercise, sleep, and stress-management plans. </a:t>
            </a:r>
          </a:p>
          <a:p>
            <a:r>
              <a:rPr lang="en-US" b="1" dirty="0"/>
              <a:t>Health Data RAG Retrieval</a:t>
            </a:r>
          </a:p>
          <a:p>
            <a:r>
              <a:rPr lang="en-US" dirty="0"/>
              <a:t>Retrieve and summarize healthcare information from trusted medical and nutritional knowledge sources. </a:t>
            </a:r>
          </a:p>
          <a:p>
            <a:r>
              <a:rPr lang="en-US" dirty="0"/>
              <a:t>Provide evidence-based recommendations and explanations for users. </a:t>
            </a:r>
          </a:p>
          <a:p>
            <a:r>
              <a:rPr lang="en-US" b="1" dirty="0"/>
              <a:t>Health Monitoring &amp; Feedback</a:t>
            </a:r>
          </a:p>
          <a:p>
            <a:r>
              <a:rPr lang="en-US" dirty="0"/>
              <a:t>Allow users to log health metrics such as weight, blood pressure, glucose levels, physical activity, sleep patterns, and symptoms. </a:t>
            </a:r>
          </a:p>
          <a:p>
            <a:r>
              <a:rPr lang="en-US" dirty="0"/>
              <a:t>Deliver real-time feedback and actionable insights based on tracked data. </a:t>
            </a:r>
          </a:p>
          <a:p>
            <a:r>
              <a:rPr lang="en-US" b="1" dirty="0"/>
              <a:t>Preventive Healthcare Focus</a:t>
            </a:r>
          </a:p>
          <a:p>
            <a:r>
              <a:rPr lang="en-US" dirty="0"/>
              <a:t>Identify potential health risks and recommend preventive measures. </a:t>
            </a:r>
          </a:p>
          <a:p>
            <a:r>
              <a:rPr lang="en-US" dirty="0"/>
              <a:t>Support chronic disease management for conditions such as diabetes, hypertension, obesity, cardiovascular diseases, and thyroid disorders.</a:t>
            </a:r>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1274969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a:t>
            </a:r>
            <a:r>
              <a:rPr lang="en-IN" b="1" dirty="0"/>
              <a:t>Personalized Healthcare Recommendation Engine</a:t>
            </a:r>
            <a:r>
              <a:rPr lang="en-US" dirty="0"/>
              <a:t> </a:t>
            </a:r>
            <a:endParaRPr lang="en-US" b="1" dirty="0"/>
          </a:p>
          <a:p>
            <a:pPr fontAlgn="base"/>
            <a:r>
              <a:rPr lang="en-US" b="1" dirty="0"/>
              <a:t>The Challenge</a:t>
            </a:r>
            <a:r>
              <a:rPr lang="en-US" dirty="0"/>
              <a:t> </a:t>
            </a:r>
          </a:p>
          <a:p>
            <a:pPr fontAlgn="base"/>
            <a:r>
              <a:rPr lang="en-US" dirty="0"/>
              <a:t>Healthcare recommendations are often generic and fail to account for an individual's unique health profile, lifestyle, medical history, and wellness goals. People struggle to make informed decisions about diet, exercise, preventive care, and chronic disease management due to fragmented health information and a lack of personalized guidance. As a result, many individuals are unable to maintain healthy habits, detect risks early, or effectively manage existing health conditions</a:t>
            </a:r>
          </a:p>
          <a:p>
            <a:pPr fontAlgn="base"/>
            <a:r>
              <a:rPr lang="en-US" b="1" dirty="0"/>
              <a:t>The Objective</a:t>
            </a:r>
            <a:r>
              <a:rPr lang="en-US" dirty="0"/>
              <a:t> </a:t>
            </a:r>
          </a:p>
          <a:p>
            <a:pPr fontAlgn="base"/>
            <a:r>
              <a:rPr lang="en-US" dirty="0"/>
              <a:t>Build an </a:t>
            </a:r>
            <a:r>
              <a:rPr lang="en-US" b="1" dirty="0"/>
              <a:t>AI-powered Personalized Healthcare Recommendation Engine</a:t>
            </a:r>
            <a:r>
              <a:rPr lang="en-US" dirty="0"/>
              <a:t> that provides customized health insights, wellness plans, and preventive care recommendations for individuals, caregivers, and healthcare professionals. The solution should</a:t>
            </a:r>
            <a:r>
              <a:rPr lang="en-US" dirty="0" smtClean="0"/>
              <a:t>:</a:t>
            </a:r>
          </a:p>
          <a:p>
            <a:r>
              <a:rPr lang="en-US" b="1" dirty="0"/>
              <a:t>Personalized Health Recommendations</a:t>
            </a:r>
          </a:p>
          <a:p>
            <a:r>
              <a:rPr lang="en-US" dirty="0"/>
              <a:t>Generate tailored recommendations based on age, gender, lifestyle, medical history, family history, fitness level, and health goals. </a:t>
            </a:r>
          </a:p>
          <a:p>
            <a:r>
              <a:rPr lang="en-US" dirty="0"/>
              <a:t>Suggest personalized diet, exercise, sleep, and stress-management plans. </a:t>
            </a:r>
          </a:p>
          <a:p>
            <a:r>
              <a:rPr lang="en-US" b="1" dirty="0"/>
              <a:t>Health Data RAG Retrieval</a:t>
            </a:r>
          </a:p>
          <a:p>
            <a:r>
              <a:rPr lang="en-US" dirty="0"/>
              <a:t>Retrieve and summarize healthcare information from trusted medical and nutritional knowledge sources. </a:t>
            </a:r>
          </a:p>
          <a:p>
            <a:r>
              <a:rPr lang="en-US" dirty="0"/>
              <a:t>Provide evidence-based recommendations and explanations for users. </a:t>
            </a:r>
          </a:p>
          <a:p>
            <a:r>
              <a:rPr lang="en-US" b="1" dirty="0"/>
              <a:t>Health Monitoring &amp; Feedback</a:t>
            </a:r>
          </a:p>
          <a:p>
            <a:r>
              <a:rPr lang="en-US" dirty="0"/>
              <a:t>Allow users to log health metrics such as weight, blood pressure, glucose levels, physical activity, sleep patterns, and symptoms. </a:t>
            </a:r>
          </a:p>
          <a:p>
            <a:r>
              <a:rPr lang="en-US" dirty="0"/>
              <a:t>Deliver real-time feedback and actionable insights based on tracked data. </a:t>
            </a:r>
          </a:p>
          <a:p>
            <a:r>
              <a:rPr lang="en-US" b="1" dirty="0"/>
              <a:t>Preventive Healthcare Focus</a:t>
            </a:r>
          </a:p>
          <a:p>
            <a:r>
              <a:rPr lang="en-US" dirty="0"/>
              <a:t>Identify potential health risks and recommend preventive measures. </a:t>
            </a:r>
          </a:p>
          <a:p>
            <a:r>
              <a:rPr lang="en-US" dirty="0"/>
              <a:t>Support chronic disease management for conditions such as diabetes, hypertension, obesity, cardiovascular diseases, and thyroid disorders.</a:t>
            </a:r>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1071395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smtClean="0"/>
              <a:t>IBM </a:t>
            </a:r>
            <a:r>
              <a:rPr lang="en-US" sz="1800" b="1" dirty="0"/>
              <a:t>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xmlns=""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xmlns=""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xmlns=""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26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p:cNvPicPr>
            <a:picLocks noChangeAspect="1"/>
          </p:cNvPicPr>
          <p:nvPr/>
        </p:nvPicPr>
        <p:blipFill>
          <a:blip r:embed="rId3"/>
          <a:stretch>
            <a:fillRect/>
          </a:stretch>
        </p:blipFill>
        <p:spPr>
          <a:xfrm>
            <a:off x="995127" y="1055596"/>
            <a:ext cx="9564435" cy="543953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0827" y="890689"/>
            <a:ext cx="10008118" cy="474411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4" name="Picture 3"/>
          <p:cNvPicPr>
            <a:picLocks noChangeAspect="1"/>
          </p:cNvPicPr>
          <p:nvPr/>
        </p:nvPicPr>
        <p:blipFill>
          <a:blip r:embed="rId3"/>
          <a:stretch>
            <a:fillRect/>
          </a:stretch>
        </p:blipFill>
        <p:spPr>
          <a:xfrm>
            <a:off x="1607127" y="1163783"/>
            <a:ext cx="9060873" cy="48629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b="1" dirty="0" smtClean="0"/>
              <a:t>Role </a:t>
            </a:r>
            <a:r>
              <a:rPr lang="en-US" b="1" dirty="0"/>
              <a:t>of </a:t>
            </a:r>
            <a:r>
              <a:rPr lang="en-US" b="1" dirty="0" err="1"/>
              <a:t>Agentic</a:t>
            </a:r>
            <a:r>
              <a:rPr lang="en-US" b="1" dirty="0"/>
              <a:t> AI in Personalized Healthcare Recommendation Engine </a:t>
            </a:r>
            <a:r>
              <a:rPr lang="en-US" dirty="0" err="1"/>
              <a:t>Agentic</a:t>
            </a:r>
            <a:r>
              <a:rPr lang="en-US" dirty="0"/>
              <a:t> AI enables the </a:t>
            </a:r>
            <a:r>
              <a:rPr lang="en-US" b="1" dirty="0"/>
              <a:t>Personalized Healthcare Recommendation Engine</a:t>
            </a:r>
            <a:r>
              <a:rPr lang="en-US" dirty="0"/>
              <a:t> to function as an intelligent, autonomous healthcare assistant rather than a simple question-answering </a:t>
            </a:r>
            <a:r>
              <a:rPr lang="en-US" dirty="0" err="1"/>
              <a:t>chatbot</a:t>
            </a:r>
            <a:r>
              <a:rPr lang="en-US" dirty="0"/>
              <a:t>. Using </a:t>
            </a:r>
            <a:r>
              <a:rPr lang="en-US" b="1" dirty="0"/>
              <a:t>IBM watsonx.ai</a:t>
            </a:r>
            <a:r>
              <a:rPr lang="en-US" dirty="0"/>
              <a:t> and </a:t>
            </a:r>
            <a:r>
              <a:rPr lang="en-US" b="1" dirty="0"/>
              <a:t>IBM Granite Models</a:t>
            </a:r>
            <a:r>
              <a:rPr lang="en-US" dirty="0"/>
              <a:t>, it coordinates multiple specialized agents to deliver personalized healthcare guidance, preventive care recommendations, and continuous health monitoring.</a:t>
            </a:r>
          </a:p>
          <a:p>
            <a:r>
              <a:rPr lang="en-US" dirty="0"/>
              <a:t>Each agent performs a specific role—such as analyzing health profiles, retrieving medical knowledge, generating personalized healthcare recommendations, monitoring health metrics, and assessing potential health risks—while working collaboratively. This multi-agent approach ensures efficient task execution, accurate decision-making, and comprehensive healthcare support.</a:t>
            </a:r>
          </a:p>
          <a:p>
            <a:r>
              <a:rPr lang="en-US" dirty="0" err="1"/>
              <a:t>Agentic</a:t>
            </a:r>
            <a:r>
              <a:rPr lang="en-US" dirty="0"/>
              <a:t> AI also brings </a:t>
            </a:r>
            <a:r>
              <a:rPr lang="en-US" b="1" dirty="0"/>
              <a:t>context awareness</a:t>
            </a:r>
            <a:r>
              <a:rPr lang="en-US" dirty="0"/>
              <a:t>, understanding user-specific information such as age, gender, medical history, lifestyle habits, existing health conditions, fitness levels, and wellness goals to generate highly personalized recommendations. This enables the system to provide tailored guidance for nutrition, exercise, sleep, stress management, and disease prevention.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xmlns=""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xmlns=""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xmlns=""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xmlns=""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xmlns=""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025237" y="568037"/>
            <a:ext cx="10238508" cy="5597236"/>
          </a:xfrm>
          <a:prstGeom prst="rect">
            <a:avLst/>
          </a:prstGeom>
        </p:spPr>
      </p:pic>
    </p:spTree>
    <p:extLst>
      <p:ext uri="{BB962C8B-B14F-4D97-AF65-F5344CB8AC3E}">
        <p14:creationId xmlns:p14="http://schemas.microsoft.com/office/powerpoint/2010/main" val="815418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xmlns=""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8" name="Picture 7"/>
          <p:cNvPicPr/>
          <p:nvPr/>
        </p:nvPicPr>
        <p:blipFill>
          <a:blip r:embed="rId3"/>
          <a:stretch>
            <a:fillRect/>
          </a:stretch>
        </p:blipFill>
        <p:spPr>
          <a:xfrm>
            <a:off x="817419" y="839955"/>
            <a:ext cx="9612918" cy="497378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011382" y="720437"/>
            <a:ext cx="10155382" cy="5306290"/>
          </a:xfrm>
          <a:prstGeom prst="rect">
            <a:avLst/>
          </a:prstGeom>
        </p:spPr>
      </p:pic>
    </p:spTree>
    <p:extLst>
      <p:ext uri="{BB962C8B-B14F-4D97-AF65-F5344CB8AC3E}">
        <p14:creationId xmlns:p14="http://schemas.microsoft.com/office/powerpoint/2010/main" val="1133390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3631763"/>
          </a:xfrm>
          <a:prstGeom prst="rect">
            <a:avLst/>
          </a:prstGeom>
          <a:noFill/>
        </p:spPr>
        <p:txBody>
          <a:bodyPr wrap="square" rtlCol="0">
            <a:spAutoFit/>
          </a:bodyPr>
          <a:lstStyle/>
          <a:p>
            <a:r>
              <a:rPr lang="en-US" sz="1800" dirty="0"/>
              <a:t>The </a:t>
            </a:r>
            <a:r>
              <a:rPr lang="en-US" sz="1800" b="1" dirty="0"/>
              <a:t>AI-Powered </a:t>
            </a:r>
            <a:r>
              <a:rPr lang="en-US" sz="1800" b="1" dirty="0" err="1"/>
              <a:t>Agentic</a:t>
            </a:r>
            <a:r>
              <a:rPr lang="en-US" sz="1800" b="1" dirty="0"/>
              <a:t> Customer Support and Resolution Engine</a:t>
            </a:r>
            <a:r>
              <a:rPr lang="en-US" sz="1800" dirty="0"/>
              <a:t> goes beyond traditional </a:t>
            </a:r>
            <a:r>
              <a:rPr lang="en-US" sz="1800" dirty="0" err="1"/>
              <a:t>chatbots</a:t>
            </a:r>
            <a:r>
              <a:rPr lang="en-US" sz="1800" dirty="0"/>
              <a:t> by leveraging </a:t>
            </a:r>
            <a:r>
              <a:rPr lang="en-US" sz="1800" b="1" dirty="0" err="1"/>
              <a:t>Agentic</a:t>
            </a:r>
            <a:r>
              <a:rPr lang="en-US" sz="1800" b="1" dirty="0"/>
              <a:t> AI</a:t>
            </a:r>
            <a:r>
              <a:rPr lang="en-US" sz="1800" dirty="0"/>
              <a:t>, </a:t>
            </a:r>
            <a:r>
              <a:rPr lang="en-US" sz="1800" b="1" dirty="0"/>
              <a:t>Retrieval-Augmented Generation (RAG)</a:t>
            </a:r>
            <a:r>
              <a:rPr lang="en-US" sz="1800" dirty="0"/>
              <a:t>, and </a:t>
            </a:r>
            <a:r>
              <a:rPr lang="en-US" sz="1800" b="1" dirty="0"/>
              <a:t>IBM Granite Models</a:t>
            </a:r>
            <a:r>
              <a:rPr lang="en-US" sz="1800" dirty="0"/>
              <a:t> to deliver intelligent, context-aware, and autonomous customer support. Its key innovations include:</a:t>
            </a:r>
          </a:p>
          <a:p>
            <a:r>
              <a:rPr lang="en-US" sz="1800" b="1" dirty="0"/>
              <a:t>1. Multi-Agent AI Architecture</a:t>
            </a:r>
          </a:p>
          <a:p>
            <a:r>
              <a:rPr lang="en-US" sz="1800" dirty="0"/>
              <a:t>Unlike conventional support systems that rely on a single </a:t>
            </a:r>
            <a:r>
              <a:rPr lang="en-US" sz="1800" dirty="0" err="1"/>
              <a:t>chatbot</a:t>
            </a:r>
            <a:r>
              <a:rPr lang="en-US" sz="1800" dirty="0"/>
              <a:t>, this solution employs multiple specialized AI agents that collaborate to understand customer queries, retrieve relevant knowledge, analyze sentiment, generate personalized responses, and manage ticket escalation. This modular architecture improves efficiency, scalability, and response accuracy.</a:t>
            </a:r>
          </a:p>
          <a:p>
            <a:r>
              <a:rPr lang="en-US" sz="1800" b="1" dirty="0"/>
              <a:t>2. Context-Aware Personalized Support</a:t>
            </a:r>
          </a:p>
          <a:p>
            <a:r>
              <a:rPr lang="en-US" sz="1800" dirty="0"/>
              <a:t>The platform maintains customer context across interactions by considering previous conversations, purchase history, account details, and support records. This enables highly personalized and consistent responses, eliminating the need for customers to repeat information.</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400" b="1" dirty="0"/>
              <a:t>Generative AI-Powered Personal Health Coach</a:t>
            </a:r>
          </a:p>
          <a:p>
            <a:r>
              <a:rPr lang="en-US" sz="1800" dirty="0"/>
              <a:t>Future enhancements can transform the solution into an intelligent personal health coach powered by IBM Granite Models and </a:t>
            </a:r>
            <a:r>
              <a:rPr lang="en-US" sz="1800" dirty="0" err="1"/>
              <a:t>Agentic</a:t>
            </a:r>
            <a:r>
              <a:rPr lang="en-US" sz="1800" dirty="0"/>
              <a:t> AI. The system will proactively guide users through personalized wellness journeys, set health goals, monitor progress, and continuously adapt recommendations to maximize health outcomes.</a:t>
            </a:r>
          </a:p>
          <a:p>
            <a:r>
              <a:rPr lang="en-US" sz="2000" b="1" dirty="0"/>
              <a:t>Advanced Preventive Healthcare Ecosystem</a:t>
            </a:r>
          </a:p>
          <a:p>
            <a:r>
              <a:rPr lang="en-US" sz="2000" dirty="0"/>
              <a:t>The platform can evolve into a complete preventive healthcare ecosystem that combines nutrition, fitness, mental wellness, disease risk prediction, medication management, and continuous health monitoring. This holistic approach can help users proactively manage their health and improve long-term quality of life</a:t>
            </a:r>
            <a:r>
              <a:rPr lang="en-US" sz="2400" dirty="0"/>
              <a:t>.</a:t>
            </a: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p:cNvPicPr>
            <a:picLocks noChangeAspect="1"/>
          </p:cNvPicPr>
          <p:nvPr/>
        </p:nvPicPr>
        <p:blipFill>
          <a:blip r:embed="rId2"/>
          <a:stretch>
            <a:fillRect/>
          </a:stretch>
        </p:blipFill>
        <p:spPr>
          <a:xfrm>
            <a:off x="1205345" y="1418943"/>
            <a:ext cx="8825346" cy="474632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671" y="1676671"/>
            <a:ext cx="9282547" cy="491028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011679"/>
            <a:ext cx="10515599" cy="4142421"/>
          </a:xfrm>
          <a:prstGeom prst="rect">
            <a:avLst/>
          </a:prstGeom>
        </p:spPr>
      </p:pic>
    </p:spTree>
    <p:extLst>
      <p:ext uri="{BB962C8B-B14F-4D97-AF65-F5344CB8AC3E}">
        <p14:creationId xmlns:p14="http://schemas.microsoft.com/office/powerpoint/2010/main" val="1017707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1022</Words>
  <Application>Microsoft Office PowerPoint</Application>
  <PresentationFormat>Widescreen</PresentationFormat>
  <Paragraphs>142</Paragraphs>
  <Slides>22</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35</cp:revision>
  <dcterms:created xsi:type="dcterms:W3CDTF">2025-07-08T05:06:56Z</dcterms:created>
  <dcterms:modified xsi:type="dcterms:W3CDTF">2026-06-27T05:53:12Z</dcterms:modified>
</cp:coreProperties>
</file>